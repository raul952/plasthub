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yIGRkdKOxvP+qSBjSnTj9lBPI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78c5bf59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978c5bf59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978c5bf59b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C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30175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2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ontexto operativo, los objetivos de la planta y los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requerimientos concretos del espacio que debemos buscar para iniciar operaciones.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2D6A4F">
              <a:alpha val="40000"/>
            </a:srgbClr>
          </a:solidFill>
          <a:ln cap="flat" cmpd="sng" w="12700">
            <a:solidFill>
              <a:srgbClr val="2D6A4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52B788">
              <a:alpha val="27843"/>
            </a:srgbClr>
          </a:solidFill>
          <a:ln cap="flat" cmpd="sng" w="12700">
            <a:solidFill>
              <a:srgbClr val="52B788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160020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NEO AMARU - </a:t>
            </a:r>
            <a:endParaRPr b="1" sz="3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REQUERIMIENTOS DEL ALMACÉN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4231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Operación Inicial de Consolidación de Materiales Plásticos · Perú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297680"/>
            <a:ext cx="2560320" cy="5486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42976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1 · Contexto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2 · Objetivos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126480" y="4297680"/>
            <a:ext cx="2560320" cy="54864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126480" y="42976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3 · Requerimientos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5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ESTRUCTURA DE LA PRESENTACIÓN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Tres bloques para alinear criterios y guiar la búsqueda del espacio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188720"/>
            <a:ext cx="393192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188720"/>
            <a:ext cx="658368" cy="16916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1188720"/>
            <a:ext cx="65836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43000" y="129844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Contexto de la Operación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43000" y="16916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Tipo de operación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203911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Materiales y flujos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43000" y="238658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Rol del almacén en el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754880" y="1188720"/>
            <a:ext cx="658368" cy="16916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754880" y="1188720"/>
            <a:ext cx="65836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532120" y="129844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Objetivos Operativos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532120" y="16916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Metas de recepción y despacho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532120" y="203911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Capacidad requerida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532120" y="238658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Condiciones de operación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3154680"/>
            <a:ext cx="393192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65760" y="3154680"/>
            <a:ext cx="658368" cy="169164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60" y="3154680"/>
            <a:ext cx="65836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43000" y="326440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Requerimientos del Espacio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43000" y="36576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Área y distribución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43000" y="40050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Accesos y logística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43000" y="435254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Infraestructura y servicios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1 · ¿QUÉ OPERACIÓN QUEREMOS MONTAR?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Contexto general para entender el tipo de espacio que necesitamos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1097280"/>
            <a:ext cx="3749040" cy="38404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10972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✔  LO QUE SÍ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1627632"/>
            <a:ext cx="237744" cy="23774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04672" y="159105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Hub de recepción y consolidación de plásticos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2221992"/>
            <a:ext cx="237744" cy="23774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04672" y="218541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Operación de almacenamiento segregado por tipo de material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2816352"/>
            <a:ext cx="237744" cy="23774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04672" y="277977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Centro de despacho de contenedores a clientes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3410712"/>
            <a:ext cx="237744" cy="23774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04672" y="337413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Operación logístico-comercial: compra, ordena y vende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0" y="1097280"/>
            <a:ext cx="3749040" cy="384048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029200" y="10972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✘  LO QUE NO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120640" y="1627632"/>
            <a:ext cx="237744" cy="237744"/>
          </a:xfrm>
          <a:prstGeom prst="ellipse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468112" y="159105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Planta de transformación industrial compleja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120640" y="2221992"/>
            <a:ext cx="237744" cy="237744"/>
          </a:xfrm>
          <a:prstGeom prst="ellipse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468112" y="218541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Operación de triturado, lavado o peletizado (por ahora)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120640" y="2816352"/>
            <a:ext cx="237744" cy="237744"/>
          </a:xfrm>
          <a:prstGeom prst="ellipse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468112" y="277977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Depósito de residuos peligrosos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120640" y="3410712"/>
            <a:ext cx="237744" cy="237744"/>
          </a:xfrm>
          <a:prstGeom prst="ellipse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468112" y="337413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Instalación con maquinaria pesada de producción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4572000" y="1097280"/>
            <a:ext cx="0" cy="320040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Calibri"/>
                <a:ea typeface="Calibri"/>
                <a:cs typeface="Calibri"/>
                <a:sym typeface="Calibri"/>
              </a:rPr>
              <a:t>Objetivo del almacén: recibir, separar, almacenar y consolidar. No transformar (en esta etapa).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1 · MATERIALES Y FLUJO DE OPERACIÓN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Qué recibimos, cuánto llega y cómo sale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107899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Materiales manejados (7 tipos)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60" y="1463040"/>
            <a:ext cx="1828800" cy="402336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38912" y="146304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194560" y="1463040"/>
            <a:ext cx="1051560" cy="402336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267712" y="1463040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Frecuencia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246120" y="1463040"/>
            <a:ext cx="914400" cy="402336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319272" y="146304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1883664"/>
            <a:ext cx="18288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38912" y="1883664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PET post-consumo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194560" y="1883664"/>
            <a:ext cx="1051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267712" y="1883664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46120" y="1883664"/>
            <a:ext cx="9144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355848" y="2011680"/>
            <a:ext cx="146304" cy="14630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547872" y="1883664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2304288"/>
            <a:ext cx="18288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38912" y="230428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PEAD 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194560" y="2304288"/>
            <a:ext cx="1051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267712" y="2304288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246120" y="2304288"/>
            <a:ext cx="9144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355848" y="2432304"/>
            <a:ext cx="146304" cy="14630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547872" y="2304288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65760" y="2724912"/>
            <a:ext cx="18288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38912" y="2724912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PP post-industrial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194560" y="2724912"/>
            <a:ext cx="1051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267712" y="2724912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46120" y="2724912"/>
            <a:ext cx="9144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355848" y="2852928"/>
            <a:ext cx="146304" cy="14630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547872" y="2724912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65760" y="3145536"/>
            <a:ext cx="18288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38912" y="3145536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Film 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194560" y="3145536"/>
            <a:ext cx="1051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267712" y="3145536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246120" y="3145536"/>
            <a:ext cx="9144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355848" y="3273552"/>
            <a:ext cx="146304" cy="146304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547872" y="3145536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65760" y="3566160"/>
            <a:ext cx="182880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38912" y="35661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ABS / PS 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194560" y="3566160"/>
            <a:ext cx="105156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267712" y="3566160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246120" y="3566160"/>
            <a:ext cx="91440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355848" y="3694176"/>
            <a:ext cx="146304" cy="146304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3547872" y="3566160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Oportunidad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65760" y="3986784"/>
            <a:ext cx="182880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38912" y="3986784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Nylon / PA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194560" y="3986784"/>
            <a:ext cx="105156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2267712" y="3986784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Baja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46120" y="3986784"/>
            <a:ext cx="91440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355848" y="4114800"/>
            <a:ext cx="146304" cy="146304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3547872" y="3986784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Oportunidad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65760" y="4407408"/>
            <a:ext cx="182880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38912" y="440740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Mix especiales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194560" y="4407408"/>
            <a:ext cx="105156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2267712" y="4407408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Baja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246120" y="4407408"/>
            <a:ext cx="914400" cy="402336"/>
          </a:xfrm>
          <a:prstGeom prst="rect">
            <a:avLst/>
          </a:prstGeom>
          <a:solidFill>
            <a:srgbClr val="FFF3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3355848" y="4535424"/>
            <a:ext cx="146304" cy="146304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547872" y="4407408"/>
            <a:ext cx="594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Oportunidad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663440" y="10789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Flujo de la operación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044446" y="1481325"/>
            <a:ext cx="2395800" cy="50280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135880" y="1499616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RECEPCIÓN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135880" y="1728216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~10 ton/semana en cargas mixtas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4"/>
          <p:cNvCxnSpPr/>
          <p:nvPr/>
        </p:nvCxnSpPr>
        <p:spPr>
          <a:xfrm>
            <a:off x="7010400" y="1993392"/>
            <a:ext cx="0" cy="128100"/>
          </a:xfrm>
          <a:prstGeom prst="straightConnector1">
            <a:avLst/>
          </a:prstGeom>
          <a:noFill/>
          <a:ln cap="flat" cmpd="sng" w="19050">
            <a:solidFill>
              <a:srgbClr val="5A7A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"/>
          <p:cNvSpPr/>
          <p:nvPr/>
        </p:nvSpPr>
        <p:spPr>
          <a:xfrm>
            <a:off x="5044446" y="2139695"/>
            <a:ext cx="2395800" cy="50280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135880" y="2157984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CLASIFICACIÓN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135880" y="2386584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Separación por tipo de material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7010400" y="2651760"/>
            <a:ext cx="0" cy="128100"/>
          </a:xfrm>
          <a:prstGeom prst="straightConnector1">
            <a:avLst/>
          </a:prstGeom>
          <a:noFill/>
          <a:ln cap="flat" cmpd="sng" w="19050">
            <a:solidFill>
              <a:srgbClr val="5A7A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"/>
          <p:cNvSpPr/>
          <p:nvPr/>
        </p:nvSpPr>
        <p:spPr>
          <a:xfrm>
            <a:off x="5044446" y="2798064"/>
            <a:ext cx="2395800" cy="50280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135880" y="2816352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ALMACENAMIENTO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135880" y="3044952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Segregado: zona por material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4"/>
          <p:cNvCxnSpPr/>
          <p:nvPr/>
        </p:nvCxnSpPr>
        <p:spPr>
          <a:xfrm>
            <a:off x="7010400" y="3310128"/>
            <a:ext cx="0" cy="128100"/>
          </a:xfrm>
          <a:prstGeom prst="straightConnector1">
            <a:avLst/>
          </a:prstGeom>
          <a:noFill/>
          <a:ln cap="flat" cmpd="sng" w="19050">
            <a:solidFill>
              <a:srgbClr val="5A7A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4"/>
          <p:cNvSpPr/>
          <p:nvPr/>
        </p:nvSpPr>
        <p:spPr>
          <a:xfrm>
            <a:off x="5044446" y="3456434"/>
            <a:ext cx="2395800" cy="50280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135880" y="3474720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QC y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CONSOLIDACIÓN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135880" y="37033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Hasta ~20 ton del mismo material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4"/>
          <p:cNvCxnSpPr/>
          <p:nvPr/>
        </p:nvCxnSpPr>
        <p:spPr>
          <a:xfrm>
            <a:off x="7010400" y="3968496"/>
            <a:ext cx="0" cy="128100"/>
          </a:xfrm>
          <a:prstGeom prst="straightConnector1">
            <a:avLst/>
          </a:prstGeom>
          <a:noFill/>
          <a:ln cap="flat" cmpd="sng" w="19050">
            <a:solidFill>
              <a:srgbClr val="5A7A6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/>
          <p:nvPr/>
        </p:nvSpPr>
        <p:spPr>
          <a:xfrm>
            <a:off x="5044446" y="4114804"/>
            <a:ext cx="2395800" cy="50280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135880" y="4133088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DESPACHO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135880" y="436168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Carga en contenedor al cliente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610137" y="1545350"/>
            <a:ext cx="365700" cy="365700"/>
          </a:xfrm>
          <a:prstGeom prst="ellipse">
            <a:avLst/>
          </a:prstGeom>
          <a:solidFill>
            <a:srgbClr val="2D6A4F"/>
          </a:solidFill>
          <a:ln cap="flat" cmpd="sng" w="5975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000" lIns="43000" spcFirstLastPara="1" rIns="43000" wrap="square" tIns="4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4610137" y="154535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00" lIns="43000" spcFirstLastPara="1" rIns="43000" wrap="square" tIns="2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Trebuchet MS"/>
              <a:buNone/>
            </a:pPr>
            <a:r>
              <a:rPr b="1" i="0" lang="en-US" sz="753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7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787" y="1489723"/>
            <a:ext cx="498576" cy="4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4610132" y="2208238"/>
            <a:ext cx="365700" cy="365700"/>
          </a:xfrm>
          <a:prstGeom prst="ellipse">
            <a:avLst/>
          </a:prstGeom>
          <a:solidFill>
            <a:srgbClr val="2D6A4F"/>
          </a:solidFill>
          <a:ln cap="flat" cmpd="sng" w="5975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000" lIns="43000" spcFirstLastPara="1" rIns="43000" wrap="square" tIns="4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610132" y="220823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00" lIns="43000" spcFirstLastPara="1" rIns="43000" wrap="square" tIns="2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Trebuchet MS"/>
              <a:buNone/>
            </a:pPr>
            <a:r>
              <a:rPr b="1" i="0" lang="en-US" sz="753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7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8436" y="1489723"/>
            <a:ext cx="498576" cy="4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4600976" y="2871150"/>
            <a:ext cx="365700" cy="365700"/>
          </a:xfrm>
          <a:prstGeom prst="ellipse">
            <a:avLst/>
          </a:prstGeom>
          <a:solidFill>
            <a:srgbClr val="52B788"/>
          </a:solidFill>
          <a:ln cap="flat" cmpd="sng" w="5975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000" lIns="43000" spcFirstLastPara="1" rIns="43000" wrap="square" tIns="4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600976" y="287115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00" lIns="43000" spcFirstLastPara="1" rIns="43000" wrap="square" tIns="2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Trebuchet MS"/>
              <a:buNone/>
            </a:pPr>
            <a:r>
              <a:rPr b="1" i="0" lang="en-US" sz="753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7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8791" y="2141802"/>
            <a:ext cx="498576" cy="4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4610146" y="3534050"/>
            <a:ext cx="365700" cy="365700"/>
          </a:xfrm>
          <a:prstGeom prst="ellipse">
            <a:avLst/>
          </a:prstGeom>
          <a:solidFill>
            <a:srgbClr val="52B788"/>
          </a:solidFill>
          <a:ln cap="flat" cmpd="sng" w="5975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000" lIns="43000" spcFirstLastPara="1" rIns="43000" wrap="square" tIns="4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4610146" y="353405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00" lIns="43000" spcFirstLastPara="1" rIns="43000" wrap="square" tIns="2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Trebuchet MS"/>
              <a:buNone/>
            </a:pPr>
            <a:r>
              <a:rPr b="1" i="0" lang="en-US" sz="753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7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8784" y="2793871"/>
            <a:ext cx="498576" cy="49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28774" y="3445952"/>
            <a:ext cx="498576" cy="4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/>
          <p:nvPr/>
        </p:nvSpPr>
        <p:spPr>
          <a:xfrm>
            <a:off x="4610142" y="4196950"/>
            <a:ext cx="365700" cy="365700"/>
          </a:xfrm>
          <a:prstGeom prst="ellipse">
            <a:avLst/>
          </a:prstGeom>
          <a:solidFill>
            <a:srgbClr val="E76F51"/>
          </a:solidFill>
          <a:ln cap="flat" cmpd="sng" w="5975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025" lIns="43025" spcFirstLastPara="1" rIns="43025" wrap="square" tIns="43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4610142" y="419695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00" lIns="43025" spcFirstLastPara="1" rIns="43025" wrap="square" tIns="2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Trebuchet MS"/>
              <a:buNone/>
            </a:pPr>
            <a:r>
              <a:rPr b="1" i="0" lang="en-US" sz="753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7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05495" y="3458530"/>
            <a:ext cx="498576" cy="49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41905" y="4098034"/>
            <a:ext cx="498576" cy="49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1 · ROL DEL ALMACÉN EN EL MODELO DE NEGOCIO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El almacén no es un costo — es el corazón operativo del 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365760" y="1143000"/>
            <a:ext cx="3931920" cy="1691640"/>
          </a:xfrm>
          <a:prstGeom prst="rect">
            <a:avLst/>
          </a:prstGeom>
          <a:solidFill>
            <a:srgbClr val="F4F7F5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4356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/>
          <p:nvPr/>
        </p:nvSpPr>
        <p:spPr>
          <a:xfrm>
            <a:off x="1280160" y="1252728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Centro de Consolidación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280160" y="1673352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Aquí se acumula el inventario hasta alcanzar el volumen necesario para despachar en contenedor (~20 ton/material).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754880" y="1143000"/>
            <a:ext cx="3931920" cy="1691640"/>
          </a:xfrm>
          <a:prstGeom prst="rect">
            <a:avLst/>
          </a:prstGeom>
          <a:solidFill>
            <a:srgbClr val="F4F7F5"/>
          </a:solidFill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14356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/>
          <p:nvPr/>
        </p:nvSpPr>
        <p:spPr>
          <a:xfrm>
            <a:off x="5669280" y="1252728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Punto de Control de Calidad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669280" y="1673352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El material se inspecciona, pesa y segrega al ingreso. Sin esta función, no hay consistencia en la venta.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65760" y="3017520"/>
            <a:ext cx="3931920" cy="1691640"/>
          </a:xfrm>
          <a:prstGeom prst="rect">
            <a:avLst/>
          </a:prstGeom>
          <a:solidFill>
            <a:srgbClr val="F4F7F5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33101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1280160" y="3127248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Hub Logístico de Entrada y Salida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280160" y="3547872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Recibe camiones de proveedores y despacha contenedores a clientes. La logística fluye por aquí.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754880" y="3017520"/>
            <a:ext cx="3931920" cy="1691640"/>
          </a:xfrm>
          <a:prstGeom prst="rect">
            <a:avLst/>
          </a:prstGeom>
          <a:solidFill>
            <a:srgbClr val="F4F7F5"/>
          </a:solidFill>
          <a:ln cap="flat" cmpd="sng" w="254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6048" y="33101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/>
          <p:nvPr/>
        </p:nvSpPr>
        <p:spPr>
          <a:xfrm>
            <a:off x="5669280" y="3127248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Base para Escalar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669280" y="3547872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En etapas futuras, el mismo espacio podrá incorporar equipos de procesamiento (trituradora, lavado, etc.).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2 · OBJETIVOS OPERATIVOS DE LA PLANTA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Las metas que el espacio debe permitir cumplir desde el primer día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65760" y="1115568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365760" y="1115568"/>
            <a:ext cx="548640" cy="109728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65760" y="1115568"/>
            <a:ext cx="548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051560" y="120700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Recibir cargas mixtas semanales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051560" y="1572768"/>
            <a:ext cx="3108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~10 toneladas/semana · 1–2 camiones/semana · 8–12 bolsones por camión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754880" y="1115568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754880" y="1115568"/>
            <a:ext cx="548640" cy="109728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4754880" y="1115568"/>
            <a:ext cx="548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440680" y="120700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Clasificar y segregar materiales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440680" y="1572768"/>
            <a:ext cx="3108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Cada tipo en su zona designada, sin mezclas. Control al ingreso.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65760" y="2377440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65760" y="2377440"/>
            <a:ext cx="548640" cy="109728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65760" y="2377440"/>
            <a:ext cx="548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051560" y="24688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Almacenar en forma ordenada y segura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051560" y="2834640"/>
            <a:ext cx="3108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Bolsones de ~1 m³ y ~1 ton c/u. Acceso con montacargas a cada zona.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754880" y="2377440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754880" y="2377440"/>
            <a:ext cx="548640" cy="109728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754880" y="2377440"/>
            <a:ext cx="548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440680" y="24688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Consolidar inventario por material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440680" y="2834640"/>
            <a:ext cx="3108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Meta: ~20 toneladas acumuladas del mismo tipo = 1 contenedor listo.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365760" y="3639312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365760" y="3639312"/>
            <a:ext cx="548640" cy="109728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365760" y="3639312"/>
            <a:ext cx="548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051560" y="373075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Cargar y despachar contenedores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051560" y="4096512"/>
            <a:ext cx="3108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Maniobra de camión + contenedor. Área de staging para carga eficiente.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754880" y="3639312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754880" y="3639312"/>
            <a:ext cx="548640" cy="109728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4754880" y="3639312"/>
            <a:ext cx="548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440680" y="373075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Operar con trazabilidad y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40680" y="4096512"/>
            <a:ext cx="3108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Registro de ingreso/salida, peso por bolsón, identificación por zona.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/>
          <p:nvPr/>
        </p:nvSpPr>
        <p:spPr>
          <a:xfrm>
            <a:off x="3200423" y="4005075"/>
            <a:ext cx="3291900" cy="4023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365735" y="4005074"/>
            <a:ext cx="2834700" cy="4023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3 · ÁREA Y DISTRIBUCIÓN DEL ESPACIO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Estimación de superficie mínima y zonas requeridas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65760" y="107899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Zonas requeridas en el almacén: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365760" y="1481328"/>
            <a:ext cx="2834640" cy="402336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57200" y="1481328"/>
            <a:ext cx="2724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Zona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200400" y="1481328"/>
            <a:ext cx="3291840" cy="402336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291840" y="1481328"/>
            <a:ext cx="3182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492240" y="1481328"/>
            <a:ext cx="1371600" cy="402336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583680" y="1481328"/>
            <a:ext cx="1261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m² estimados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65760" y="1901952"/>
            <a:ext cx="28346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57200" y="1901952"/>
            <a:ext cx="2724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Almacenamiento (7 materiales)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200400" y="1901952"/>
            <a:ext cx="32918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3291840" y="1901952"/>
            <a:ext cx="3182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7 zonas segregadas, ~100–150 m²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492240" y="1901952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583680" y="1901952"/>
            <a:ext cx="1261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65760" y="2322576"/>
            <a:ext cx="2834640" cy="402336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57200" y="2322576"/>
            <a:ext cx="2724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Recepción y descarga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200400" y="2322576"/>
            <a:ext cx="3291840" cy="402336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3291840" y="2322576"/>
            <a:ext cx="3182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Área para inspección y pesaje al ingreso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492240" y="2322576"/>
            <a:ext cx="1371600" cy="402336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6583680" y="2322576"/>
            <a:ext cx="1261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65760" y="2743200"/>
            <a:ext cx="28346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57200" y="2743200"/>
            <a:ext cx="2724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Staging / pre-despacho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200400" y="2743200"/>
            <a:ext cx="32918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291840" y="2743200"/>
            <a:ext cx="3182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Acumulación lista para carga en contenedor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492240" y="2743200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6583680" y="2743200"/>
            <a:ext cx="1261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65760" y="3163824"/>
            <a:ext cx="2834640" cy="402336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457200" y="3163824"/>
            <a:ext cx="2724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Maniobra interior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200400" y="3163824"/>
            <a:ext cx="3291840" cy="402336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3291840" y="3163824"/>
            <a:ext cx="3182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Circulación de montacargas entre zonas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492240" y="3163824"/>
            <a:ext cx="1371600" cy="402336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6583680" y="3163824"/>
            <a:ext cx="1261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65760" y="3584448"/>
            <a:ext cx="28346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457200" y="3584448"/>
            <a:ext cx="2724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Oficina /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200400" y="3584448"/>
            <a:ext cx="32918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3291840" y="3584448"/>
            <a:ext cx="3182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Escritorio, báscula, cámaras, registro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492240" y="3584448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583680" y="3584448"/>
            <a:ext cx="1261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20–40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7863840" y="1554480"/>
            <a:ext cx="914400" cy="86868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7863840" y="159105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~</a:t>
            </a: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350</a:t>
            </a: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m²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863840" y="205740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útil mínima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7863840" y="2606040"/>
            <a:ext cx="914400" cy="86868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7863840" y="264261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~</a:t>
            </a: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500</a:t>
            </a: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– </a:t>
            </a: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75</a:t>
            </a: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 m²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7863840" y="31089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total recomendada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7863840" y="3657600"/>
            <a:ext cx="914400" cy="86868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7863840" y="36941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5–6 metros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7863840" y="41605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Altura libre mínima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3C2D"/>
                </a:solidFill>
                <a:latin typeface="Calibri"/>
                <a:ea typeface="Calibri"/>
                <a:cs typeface="Calibri"/>
                <a:sym typeface="Calibri"/>
              </a:rPr>
              <a:t>Nota: el patio exterior puede ser parte del mismo predio o contiguo. Es indispensable para maniobrar contenedores.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57200" y="4005074"/>
            <a:ext cx="2724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Total	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390575" y="4005075"/>
            <a:ext cx="2424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538005" y="3980698"/>
            <a:ext cx="126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500 </a:t>
            </a: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- 75</a:t>
            </a: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78c5bf59b_0_5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978c5bf59b_0_5"/>
          <p:cNvSpPr/>
          <p:nvPr/>
        </p:nvSpPr>
        <p:spPr>
          <a:xfrm>
            <a:off x="411480" y="45720"/>
            <a:ext cx="8321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3 · ÁREA Y DISTRIBUCIÓN DEL ESPACIO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978c5bf59b_0_5"/>
          <p:cNvSpPr/>
          <p:nvPr/>
        </p:nvSpPr>
        <p:spPr>
          <a:xfrm>
            <a:off x="411480" y="566928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Estimación de superficie mínima y zonas requeridas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978c5bf59b_0_5"/>
          <p:cNvSpPr/>
          <p:nvPr/>
        </p:nvSpPr>
        <p:spPr>
          <a:xfrm>
            <a:off x="365760" y="1078992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Zonas requeridas en el almacén: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978c5bf59b_0_5"/>
          <p:cNvSpPr/>
          <p:nvPr/>
        </p:nvSpPr>
        <p:spPr>
          <a:xfrm>
            <a:off x="365760" y="1481328"/>
            <a:ext cx="2834700" cy="402300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78c5bf59b_0_5"/>
          <p:cNvSpPr/>
          <p:nvPr/>
        </p:nvSpPr>
        <p:spPr>
          <a:xfrm>
            <a:off x="457200" y="1481328"/>
            <a:ext cx="2724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Zona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978c5bf59b_0_5"/>
          <p:cNvSpPr/>
          <p:nvPr/>
        </p:nvSpPr>
        <p:spPr>
          <a:xfrm>
            <a:off x="365760" y="4645152"/>
            <a:ext cx="8412600" cy="3201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g3978c5bf59b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2036028"/>
            <a:ext cx="3911912" cy="24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978c5bf59b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674" y="2048250"/>
            <a:ext cx="3583156" cy="24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978c5bf59b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4678" y="2036025"/>
            <a:ext cx="4360084" cy="245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5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3 · ACCESOS, LOGÍSTICA Y UBICACIÓN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Condiciones de conectividad y compatibilidad de zona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365760" y="1097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Accesos y maniobra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365760" y="1591056"/>
            <a:ext cx="45720" cy="34747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530352" y="153619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Puerta de ingreso vehicular ancha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530352" y="17556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Mínimo 4 m de ancho libre para camiones de carga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65760" y="2121408"/>
            <a:ext cx="45720" cy="34747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530352" y="206654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Altura libre de acceso ≥ </a:t>
            </a:r>
            <a:r>
              <a:rPr b="1" lang="en-US" sz="1200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 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530352" y="22860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Para camiones de estacas o caja alta con bolsones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365760" y="2651760"/>
            <a:ext cx="45720" cy="34747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530352" y="259689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Patio para maniobra de contenedores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530352" y="28163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Espacio para girar y posicionar contenedor de 40 pies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365760" y="3182112"/>
            <a:ext cx="45720" cy="34747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530352" y="31272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Circulación interior para montacargas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30352" y="33467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Pasillos de al menos 3.5 m entre zonas de materiales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65760" y="3712464"/>
            <a:ext cx="45720" cy="34747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530352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Doble acceso preferible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530352" y="38770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Ingreso y salida separados para evitar cuellos de botella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846320" y="1097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Zona y ubicación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846320" y="1591056"/>
            <a:ext cx="45720" cy="34747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5010912" y="153619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Zona industrial o logística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010912" y="17556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Compatible con almacenamiento de materiales reciclables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846320" y="2121408"/>
            <a:ext cx="45720" cy="34747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5010912" y="206654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Acceso a rutas de carga principales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5010912" y="22860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Conexión directa con vías para camiones de carga pesada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846320" y="2651760"/>
            <a:ext cx="45720" cy="34747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5010912" y="259689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Sin restricciones residenciales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010912" y="28163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Evitar zonas con quejas por ruido, tráfico o materiales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846320" y="3182112"/>
            <a:ext cx="45720" cy="34747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5010912" y="31272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Compatibilidad regulatoria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010912" y="33467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Materiales plásticos = residuos no peligrosos (verificar municipio)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846320" y="3712464"/>
            <a:ext cx="45720" cy="34747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5010912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Cercanía a proveedores y puerto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5010912" y="38770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Reducir costo logístico de entrada y salida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8"/>
          <p:cNvCxnSpPr/>
          <p:nvPr/>
        </p:nvCxnSpPr>
        <p:spPr>
          <a:xfrm>
            <a:off x="4572000" y="105156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3 · INFRAESTRUCTURA DEL LOCAL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Características físicas mínimas del espacio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74320" y="1097280"/>
            <a:ext cx="2697480" cy="1755648"/>
          </a:xfrm>
          <a:prstGeom prst="rect">
            <a:avLst/>
          </a:prstGeom>
          <a:solidFill>
            <a:srgbClr val="F4F7F5"/>
          </a:solidFill>
          <a:ln cap="flat" cmpd="sng" w="1905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9"/>
          <p:cNvSpPr/>
          <p:nvPr/>
        </p:nvSpPr>
        <p:spPr>
          <a:xfrm>
            <a:off x="960120" y="1261872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Piso Industrial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57200" y="184708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Piso de concreto armado o similar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57200" y="217627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Capacidad de carga: mín. 5 ton/m²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57200" y="250545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Sin desniveles que dificulten montacargas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200400" y="1097280"/>
            <a:ext cx="2697480" cy="1755648"/>
          </a:xfrm>
          <a:prstGeom prst="rect">
            <a:avLst/>
          </a:prstGeom>
          <a:solidFill>
            <a:srgbClr val="F4F7F5"/>
          </a:solidFill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9"/>
          <p:cNvSpPr/>
          <p:nvPr/>
        </p:nvSpPr>
        <p:spPr>
          <a:xfrm>
            <a:off x="3886200" y="1261872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Altura y Techo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3383280" y="184708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Altura libre interior ≥ 5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383280" y="217627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Techo sólido e impermeable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383280" y="250545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Sin columnas que interfieran el 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6126480" y="1097280"/>
            <a:ext cx="2697480" cy="1755648"/>
          </a:xfrm>
          <a:prstGeom prst="rect">
            <a:avLst/>
          </a:prstGeom>
          <a:solidFill>
            <a:srgbClr val="F4F7F5"/>
          </a:solidFill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9"/>
          <p:cNvSpPr/>
          <p:nvPr/>
        </p:nvSpPr>
        <p:spPr>
          <a:xfrm>
            <a:off x="6812280" y="1261872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Seguridad Física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6309360" y="184708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Cerco perimetral o muros completos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6309360" y="217627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Portón con cerramiento seguro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6309360" y="250545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Iluminación nocturna exterior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274320" y="3035808"/>
            <a:ext cx="2697480" cy="1755648"/>
          </a:xfrm>
          <a:prstGeom prst="rect">
            <a:avLst/>
          </a:prstGeom>
          <a:solidFill>
            <a:srgbClr val="F4F7F5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218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9"/>
          <p:cNvSpPr/>
          <p:nvPr/>
        </p:nvSpPr>
        <p:spPr>
          <a:xfrm>
            <a:off x="960120" y="320040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Servicios Básicos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57200" y="378561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Electricidad trifásica disponible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57200" y="411480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Agua y desagüe operativo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457200" y="444398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Conexión a internet (gestión y cámaras)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3200400" y="3035808"/>
            <a:ext cx="2697480" cy="1755648"/>
          </a:xfrm>
          <a:prstGeom prst="rect">
            <a:avLst/>
          </a:prstGeom>
          <a:solidFill>
            <a:srgbClr val="F4F7F5"/>
          </a:solidFill>
          <a:ln cap="flat" cmpd="sng" w="1905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3218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9"/>
          <p:cNvSpPr/>
          <p:nvPr/>
        </p:nvSpPr>
        <p:spPr>
          <a:xfrm>
            <a:off x="3886200" y="320040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Contra Incendio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3383280" y="378561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Salidas de emergencia señalizadas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3383280" y="411480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Posibilidad de instalar extintores y detectores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3383280" y="444398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Sin materiales inflamables colindantes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6126480" y="3035808"/>
            <a:ext cx="2697480" cy="1755648"/>
          </a:xfrm>
          <a:prstGeom prst="rect">
            <a:avLst/>
          </a:prstGeom>
          <a:solidFill>
            <a:srgbClr val="F4F7F5"/>
          </a:solidFill>
          <a:ln cap="flat" cmpd="sng" w="1905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3640" y="3218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9"/>
          <p:cNvSpPr/>
          <p:nvPr/>
        </p:nvSpPr>
        <p:spPr>
          <a:xfrm>
            <a:off x="6812280" y="320040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D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1A3C2D"/>
                </a:solidFill>
                <a:latin typeface="Trebuchet MS"/>
                <a:ea typeface="Trebuchet MS"/>
                <a:cs typeface="Trebuchet MS"/>
                <a:sym typeface="Trebuchet MS"/>
              </a:rPr>
              <a:t>Potencial de Expansión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6309360" y="378561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Posibilidad de ampliar o subdividir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6309360" y="411480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Zona contigua o naves adicionales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309360" y="444398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· Contrato flexible (mínimo 1 año + renovación)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5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BLOQUE 3 · REQUERIMIENTOS OPERATIVOS ADICIONALES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Elementos que completan la operación desde el día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365760" y="114300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502920" y="11430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Báscula o Control de Peso </a:t>
            </a: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(Comprar)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548640" y="1618488"/>
            <a:ext cx="3566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Es fundamental pesar cada bolsón al ingreso y al egreso. El espacio debe permitir instalar una báscula de piso o báscula de horquilla. Recomendable: zona de pesaje próxima al acceso.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754880" y="114300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4754880" y="1143000"/>
            <a:ext cx="3931920" cy="384048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4892040" y="11430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Espacio para Montacargas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937760" y="1618488"/>
            <a:ext cx="3566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La operación requiere 1–2 montacargas para mover bolsones de ~1 ton. Se necesita espacio de estacionamiento, carga eléctrica (si es eléctrico) y pasillos de maniobra libre.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365760" y="301752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365760" y="3017520"/>
            <a:ext cx="3931920" cy="384048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502920" y="30175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Oficina Mínima </a:t>
            </a: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(Opcional)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548640" y="3493008"/>
            <a:ext cx="3566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Al menos 20–40 m² para oficina operativa: recepción de proveedores, registro de pesajes, cámaras de seguridad, computadora e internet. Puede ser una caseta prefabricada dentro del almacén.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4754880" y="3017520"/>
            <a:ext cx="3931920" cy="384048"/>
          </a:xfrm>
          <a:prstGeom prst="rect">
            <a:avLst/>
          </a:prstGeom>
          <a:solidFill>
            <a:srgbClr val="37415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4892040" y="30175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Señalización y Zonificación </a:t>
            </a: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(Opcional, queda a gestion nuestra)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4937760" y="3493008"/>
            <a:ext cx="3566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7"/>
                </a:solidFill>
                <a:latin typeface="Calibri"/>
                <a:ea typeface="Calibri"/>
                <a:cs typeface="Calibri"/>
                <a:sym typeface="Calibri"/>
              </a:rPr>
              <a:t>El layout debe permitir pintar zonas en el piso, instalar señalización por tipo de material y colocar cámaras en puntos clave. Piso liso y sin obstáculos fijos en el área principal.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D"/>
          </a:solidFill>
          <a:ln cap="flat" cmpd="sng" w="12700">
            <a:solidFill>
              <a:srgbClr val="1A3C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411480" y="4572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RESUMEN DE REQUERIMIENTOS CLAVE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Referencia rápida para evaluación de propiedades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274320" y="1078992"/>
            <a:ext cx="2560320" cy="329184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365760" y="1078992"/>
            <a:ext cx="2450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Criterio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834640" y="1078992"/>
            <a:ext cx="2651760" cy="329184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2926080" y="1078992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Requerimiento Mínimo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5486400" y="1078992"/>
            <a:ext cx="2743200" cy="329184"/>
          </a:xfrm>
          <a:prstGeom prst="rect">
            <a:avLst/>
          </a:prstGeom>
          <a:solidFill>
            <a:srgbClr val="1A3C2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5577840" y="1078992"/>
            <a:ext cx="2633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Recomendado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274320" y="1426464"/>
            <a:ext cx="256032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365760" y="1426464"/>
            <a:ext cx="2450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Área útil de almacenamiento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2834640" y="1426464"/>
            <a:ext cx="26517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2926080" y="142646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500 - 750</a:t>
            </a: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 m²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5486400" y="1426464"/>
            <a:ext cx="2743200" cy="329184"/>
          </a:xfrm>
          <a:prstGeom prst="rect">
            <a:avLst/>
          </a:prstGeom>
          <a:solidFill>
            <a:srgbClr val="F5FD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5577840" y="1426464"/>
            <a:ext cx="2633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hasta </a:t>
            </a: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1000 m²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274320" y="1773958"/>
            <a:ext cx="25602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365760" y="1773958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Altura libre interior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2834640" y="1773958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2926080" y="1773958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5 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5486400" y="1773958"/>
            <a:ext cx="2743200" cy="329100"/>
          </a:xfrm>
          <a:prstGeom prst="rect">
            <a:avLst/>
          </a:prstGeom>
          <a:solidFill>
            <a:srgbClr val="F5FD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5577840" y="1773958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6–8 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274320" y="2121430"/>
            <a:ext cx="25602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365760" y="2121430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Patio de maniobra exterior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834640" y="2121430"/>
            <a:ext cx="26517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2926080" y="2121430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00 m²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5486400" y="2121430"/>
            <a:ext cx="2743200" cy="329100"/>
          </a:xfrm>
          <a:prstGeom prst="rect">
            <a:avLst/>
          </a:prstGeom>
          <a:solidFill>
            <a:srgbClr val="EBF9F1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5577840" y="2121430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00 m²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274320" y="2468899"/>
            <a:ext cx="25602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365760" y="2468899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Acceso vehicular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2834640" y="2468899"/>
            <a:ext cx="26517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2926080" y="2468899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1 acceso ≥ 4 m ancho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5486400" y="2468899"/>
            <a:ext cx="2743200" cy="329100"/>
          </a:xfrm>
          <a:prstGeom prst="rect">
            <a:avLst/>
          </a:prstGeom>
          <a:solidFill>
            <a:srgbClr val="EBF9F1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5577840" y="2468899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2 accesos independientes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274320" y="2816371"/>
            <a:ext cx="25602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365760" y="2816371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Piso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2834640" y="2816371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2926080" y="2816371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Concreto 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5486400" y="2816371"/>
            <a:ext cx="2743200" cy="329100"/>
          </a:xfrm>
          <a:prstGeom prst="rect">
            <a:avLst/>
          </a:prstGeom>
          <a:solidFill>
            <a:srgbClr val="F5FD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5577840" y="2816371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Epóxico o similar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274320" y="3163843"/>
            <a:ext cx="25602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365760" y="3163843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Tipo de zona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2834640" y="3163843"/>
            <a:ext cx="26517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2926080" y="3163843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Industrial / logística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486400" y="3163843"/>
            <a:ext cx="2743200" cy="329100"/>
          </a:xfrm>
          <a:prstGeom prst="rect">
            <a:avLst/>
          </a:prstGeom>
          <a:solidFill>
            <a:srgbClr val="EBF9F1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5577840" y="3163843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Parque 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274320" y="3511315"/>
            <a:ext cx="25602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365760" y="3511315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2834640" y="3511315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2926080" y="3511315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Luz + agua + internet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5486400" y="3511315"/>
            <a:ext cx="2743200" cy="329100"/>
          </a:xfrm>
          <a:prstGeom prst="rect">
            <a:avLst/>
          </a:prstGeom>
          <a:solidFill>
            <a:srgbClr val="F5FDF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5577840" y="3511315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Trifásico + agua industrial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274320" y="3858787"/>
            <a:ext cx="25602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365760" y="3858787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Compatibilidad regulatoria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2834640" y="3858787"/>
            <a:ext cx="2651700" cy="329100"/>
          </a:xfrm>
          <a:prstGeom prst="rect">
            <a:avLst/>
          </a:prstGeom>
          <a:solidFill>
            <a:srgbClr val="F4F7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2926080" y="3858787"/>
            <a:ext cx="254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2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D23"/>
                </a:solidFill>
                <a:latin typeface="Calibri"/>
                <a:ea typeface="Calibri"/>
                <a:cs typeface="Calibri"/>
                <a:sym typeface="Calibri"/>
              </a:rPr>
              <a:t>Permitido almacenar plásticos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5486400" y="3858787"/>
            <a:ext cx="2743200" cy="329100"/>
          </a:xfrm>
          <a:prstGeom prst="rect">
            <a:avLst/>
          </a:prstGeom>
          <a:solidFill>
            <a:srgbClr val="EBF9F1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5577840" y="3858787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Licencia o zonificación confirmada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2026-04-21T23:16:52Z</dcterms:created>
  <dc:creator>PptxGenJS</dc:creator>
</cp:coreProperties>
</file>